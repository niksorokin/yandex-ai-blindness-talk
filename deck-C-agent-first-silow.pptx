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продаём Silow на входе. Сначала рамка: старый порядок не даёт буста.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уважение к L&amp;D: вопрос важный, но второй.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Только середина: первый раз показываем нас через то, что мы увидели. Без метрик и названия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показываем нас второй раз, но тезисом, не демкой.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не бустит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старую работу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03504" y="3703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бустит компанию только когда меняется порядок работы.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3504" y="5074920"/>
            <a:ext cx="2834640" cy="393192"/>
          </a:xfrm>
          <a:prstGeom prst="roundRect">
            <a:avLst>
              <a:gd name="adj" fmla="val 30233"/>
            </a:avLst>
          </a:prstGeom>
          <a:solidFill>
            <a:srgbClr val="3B5BFF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5148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AI-грамотность · 8 сентября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" y="55595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Никита Сорокин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Неправильный вопрос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звучит логично, но оставляет компанию в старой операционке.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11018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людям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использовать AI?»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03504" y="37033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обычно: курс, доступ, чат-бот, prompt library.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1792" y="4645152"/>
            <a:ext cx="10881360" cy="0"/>
          </a:xfrm>
          <a:prstGeom prst="line">
            <a:avLst/>
          </a:prstGeom>
          <a:noFill/>
          <a:ln w="12700">
            <a:solidFill>
              <a:srgbClr val="2A31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50749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процесс остаётся тем же: человек всё ещё собирает, переносит, сверяет и догоняет.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Старая модель: люди + агенты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добавили, но владелец микрошагов всё ещё человек.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человеку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29230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12694" y="224028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1566" y="242316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систем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вручную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74997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58461" y="224028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7333" y="242316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как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20763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04227" y="224028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3099" y="242316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копипаст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66530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49994" y="224028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8866" y="242316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руками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069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лучше, чем ничего. Но это не новый operating model.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3504" y="47091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просто дала живой интеграции ещё одну вкладку.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обучение не переносится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меняет навык. Но рабочая система вокруг навыка остаётся прежней.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5740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57400"/>
            <a:ext cx="54864" cy="2331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1343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Старый вход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825496"/>
            <a:ext cx="29626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же почта, CRM, таблица, чат, портал. Человек всё ещё стартует процесс.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1688" y="205740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057400"/>
            <a:ext cx="54864" cy="2331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31343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Старая проверка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2825496"/>
            <a:ext cx="29626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Никто заранее не сказал агенту, что такое «готово». Человек переделывает сам.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6448" y="205740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6448" y="2057400"/>
            <a:ext cx="54864" cy="2331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31343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Старая ответственность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2825496"/>
            <a:ext cx="29626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боятся делегировать машине то, за что всё равно спросят с них.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5212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превращается не в работу, а в ещё один инструмент рядом с работой.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модель: агенты + люди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проектируем стандартный слой для агента. Потом точки входа человека.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процесс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29230" y="24597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12694" y="214884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1566" y="233172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собирает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74997" y="24597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58461" y="214884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7333" y="233172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готовит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20763" y="24597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04227" y="214884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3099" y="233172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проверяет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исключения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66530" y="24597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49994" y="214884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8866" y="233172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отвечает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финал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160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становится владельцем рутины. Человек остаётся владельцем результата.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уходит агенту, а что остаётся человеку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замена людей. Это разделение труда.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5166360" cy="3337560"/>
          </a:xfrm>
          <a:prstGeom prst="roundRect">
            <a:avLst>
              <a:gd name="adj" fmla="val 3562"/>
            </a:avLst>
          </a:prstGeom>
          <a:solidFill>
            <a:srgbClr val="171A24"/>
          </a:solidFill>
          <a:ln w="12700">
            <a:solidFill>
              <a:srgbClr val="2A314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59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429768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 контекст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классифицирует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готовит черновик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сверяет поля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напоминает следующий шаг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82512" y="2057400"/>
            <a:ext cx="5166360" cy="3337560"/>
          </a:xfrm>
          <a:prstGeom prst="roundRect">
            <a:avLst>
              <a:gd name="adj" fmla="val 3562"/>
            </a:avLst>
          </a:prstGeom>
          <a:solidFill>
            <a:srgbClr val="171A24"/>
          </a:solidFill>
          <a:ln w="12700">
            <a:solidFill>
              <a:srgbClr val="2A3142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2359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D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02552" y="2880360"/>
            <a:ext cx="429768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ставит критерий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 качество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разбирает исключения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принимает решение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несёт ответственность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видно, когда смотришь на реальную работу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смотришь не на обучение, а на траекторию задачи.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" y="2029968"/>
            <a:ext cx="2011680" cy="393192"/>
          </a:xfrm>
          <a:prstGeom prst="roundRect">
            <a:avLst>
              <a:gd name="adj" fmla="val 30233"/>
            </a:avLst>
          </a:prstGeom>
          <a:solidFill>
            <a:srgbClr val="3B5BFF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103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 · PROCESS MAP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11018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часто не в AI-навыке.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в архитектуре работы.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03504" y="4251960"/>
            <a:ext cx="1069848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одной сервисной компании в Дубае после анализа стало видно: почти вся операционка держится на ручных передачах между письмами, документами, чатами, порталами и проверками.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3504" y="53309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было не «ещё обучить людей», а развернуть порядок: агент ведёт стандартные шаги, человек принимает исключения.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" y="6428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меняется процесс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большой лозунг «внедряем AI», а конкретная новая траектория работы.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5740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29230" y="2368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12694" y="205740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1566" y="224028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разбирает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74997" y="2368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58461" y="205740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7333" y="224028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готовит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20763" y="2368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04227" y="205740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171A24"/>
          </a:solidFill>
          <a:ln w="12700">
            <a:solidFill>
              <a:srgbClr val="2A3142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3099" y="224028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смотрит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исключения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66530" y="2368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49994" y="2057400"/>
            <a:ext cx="2081174" cy="960120"/>
          </a:xfrm>
          <a:prstGeom prst="roundRect">
            <a:avLst>
              <a:gd name="adj" fmla="val 9524"/>
            </a:avLst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8866" y="2240280"/>
            <a:ext cx="1843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ведёт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160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слышит не «пользуйтесь AI активнее». Она слышит: «вот кусок работы, который больше не должен начинаться с человека».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" y="6428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тогда учить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prompt users. Agent-work managers.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74520"/>
            <a:ext cx="54864" cy="2331720"/>
          </a:xfrm>
          <a:prstGeom prst="rect">
            <a:avLst/>
          </a:prstGeom>
          <a:solidFill>
            <a:srgbClr val="3B5B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3055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Задача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642616"/>
            <a:ext cx="163677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Сформулировать агенту работу как часть процесса.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07792" y="1874520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7792" y="1874520"/>
            <a:ext cx="54864" cy="2331720"/>
          </a:xfrm>
          <a:prstGeom prst="rect">
            <a:avLst/>
          </a:prstGeom>
          <a:solidFill>
            <a:srgbClr val="3B5BFF"/>
          </a:solidFill>
          <a:ln/>
        </p:spPr>
      </p:sp>
      <p:sp>
        <p:nvSpPr>
          <p:cNvPr id="14" name="Text 12"/>
          <p:cNvSpPr/>
          <p:nvPr/>
        </p:nvSpPr>
        <p:spPr>
          <a:xfrm>
            <a:off x="3163824" y="213055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Готово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163824" y="2642616"/>
            <a:ext cx="163677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Заранее описать критерий приёмки.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48656" y="1874520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48656" y="1874520"/>
            <a:ext cx="54864" cy="2331720"/>
          </a:xfrm>
          <a:prstGeom prst="rect">
            <a:avLst/>
          </a:prstGeom>
          <a:solidFill>
            <a:srgbClr val="3B5BFF"/>
          </a:solidFill>
          <a:ln/>
        </p:spPr>
      </p:sp>
      <p:sp>
        <p:nvSpPr>
          <p:cNvPr id="18" name="Text 16"/>
          <p:cNvSpPr/>
          <p:nvPr/>
        </p:nvSpPr>
        <p:spPr>
          <a:xfrm>
            <a:off x="5504688" y="213055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Проверка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04688" y="2642616"/>
            <a:ext cx="163677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оценить результат по критерию.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0" y="1874520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874520"/>
            <a:ext cx="54864" cy="2331720"/>
          </a:xfrm>
          <a:prstGeom prst="rect">
            <a:avLst/>
          </a:prstGeom>
          <a:solidFill>
            <a:srgbClr val="3B5BFF"/>
          </a:solidFill>
          <a:ln/>
        </p:spPr>
      </p:sp>
      <p:sp>
        <p:nvSpPr>
          <p:cNvPr id="22" name="Text 20"/>
          <p:cNvSpPr/>
          <p:nvPr/>
        </p:nvSpPr>
        <p:spPr>
          <a:xfrm>
            <a:off x="7845552" y="213055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Исключение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845552" y="2642616"/>
            <a:ext cx="163677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Понять, где нужен опыт человека.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30384" y="1874520"/>
            <a:ext cx="1691640" cy="2331720"/>
          </a:xfrm>
          <a:prstGeom prst="roundRect">
            <a:avLst>
              <a:gd name="adj" fmla="val 648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30384" y="1874520"/>
            <a:ext cx="54864" cy="2331720"/>
          </a:xfrm>
          <a:prstGeom prst="rect">
            <a:avLst/>
          </a:prstGeom>
          <a:solidFill>
            <a:srgbClr val="3B5B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186416" y="2130552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Улучшение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186416" y="2642616"/>
            <a:ext cx="117957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Переписать шаг после прогонов.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" y="4892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ближе к менеджменту, чем к промпт-инжинирингу.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66928" y="6428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роль L&amp;D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заменить обучение. Изменить единицу обучения.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1901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" y="2267712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2267712"/>
            <a:ext cx="54864" cy="2148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523744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Учить людей инструментам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9536" y="3035808"/>
            <a:ext cx="465429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Курс, демо, промпты, чек-лист сервисов. После курса человек возвращается в старую систему.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1901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D3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2267712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171A24"/>
          </a:solidFill>
          <a:ln w="12700">
            <a:solidFill>
              <a:srgbClr val="2A3142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267712"/>
            <a:ext cx="54864" cy="2148840"/>
          </a:xfrm>
          <a:prstGeom prst="rect">
            <a:avLst/>
          </a:prstGeom>
          <a:solidFill>
            <a:srgbClr val="42D392"/>
          </a:solidFill>
          <a:ln/>
        </p:spPr>
      </p:sp>
      <p:sp>
        <p:nvSpPr>
          <p:cNvPr id="16" name="Text 14"/>
          <p:cNvSpPr/>
          <p:nvPr/>
        </p:nvSpPr>
        <p:spPr>
          <a:xfrm>
            <a:off x="6611112" y="2523744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Учить людей новой работе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11112" y="3035808"/>
            <a:ext cx="465429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агент начинает, где человек проверяет, где ответственность нельзя делегировать.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L&amp;D становится не поставщиком курсов, а архитектором перехода в агентную операционку.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66928" y="6428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здесь Silow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Системный способ перейти от AI-обучения к агентной операционке.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11018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AI spend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guess.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03504" y="365760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 начинает не с инструмента и не с курса. Мы начинаем с реальной работы компании.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3504" y="4709160"/>
            <a:ext cx="2578608" cy="393192"/>
          </a:xfrm>
          <a:prstGeom prst="roundRect">
            <a:avLst>
              <a:gd name="adj" fmla="val 30233"/>
            </a:avLst>
          </a:prstGeom>
          <a:solidFill>
            <a:srgbClr val="3B5BFF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4782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восстанавливаем процессы как есть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2424" y="4709160"/>
            <a:ext cx="2578608" cy="393192"/>
          </a:xfrm>
          <a:prstGeom prst="roundRect">
            <a:avLst>
              <a:gd name="adj" fmla="val 30233"/>
            </a:avLst>
          </a:prstGeom>
          <a:solidFill>
            <a:srgbClr val="171A24"/>
          </a:solidFill>
          <a:ln/>
        </p:spPr>
      </p:sp>
      <p:sp>
        <p:nvSpPr>
          <p:cNvPr id="13" name="Text 11"/>
          <p:cNvSpPr/>
          <p:nvPr/>
        </p:nvSpPr>
        <p:spPr>
          <a:xfrm>
            <a:off x="3392424" y="4782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определяем роль AI в каждом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4709160"/>
            <a:ext cx="2578608" cy="393192"/>
          </a:xfrm>
          <a:prstGeom prst="roundRect">
            <a:avLst>
              <a:gd name="adj" fmla="val 30233"/>
            </a:avLst>
          </a:prstGeom>
          <a:solidFill>
            <a:srgbClr val="171A24"/>
          </a:solidFill>
          <a:ln/>
        </p:spPr>
      </p:sp>
      <p:sp>
        <p:nvSpPr>
          <p:cNvPr id="15" name="Text 13"/>
          <p:cNvSpPr/>
          <p:nvPr/>
        </p:nvSpPr>
        <p:spPr>
          <a:xfrm>
            <a:off x="6181344" y="4782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создаём агентов и промпты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70264" y="4709160"/>
            <a:ext cx="2578608" cy="393192"/>
          </a:xfrm>
          <a:prstGeom prst="roundRect">
            <a:avLst>
              <a:gd name="adj" fmla="val 30233"/>
            </a:avLst>
          </a:prstGeom>
          <a:solidFill>
            <a:srgbClr val="171A24"/>
          </a:solidFill>
          <a:ln/>
        </p:spPr>
      </p:sp>
      <p:sp>
        <p:nvSpPr>
          <p:cNvPr id="17" name="Text 15"/>
          <p:cNvSpPr/>
          <p:nvPr/>
        </p:nvSpPr>
        <p:spPr>
          <a:xfrm>
            <a:off x="8970264" y="4782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мерим до / после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6428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4754880" cy="4754880"/>
          </a:xfrm>
          <a:prstGeom prst="arc">
            <a:avLst/>
          </a:prstGeom>
          <a:noFill/>
          <a:ln w="25400">
            <a:solidFill>
              <a:srgbClr val="3B5B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937760"/>
            <a:ext cx="4572000" cy="4572000"/>
          </a:xfrm>
          <a:prstGeom prst="arc">
            <a:avLst/>
          </a:prstGeom>
          <a:noFill/>
          <a:ln w="25400">
            <a:solidFill>
              <a:srgbClr val="3B5B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30352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4300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добавляйте AI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старой работе.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03504" y="297180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Пересоберите работу так,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агент начинал стандартный слой,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человек управлял качеством и исключениями.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03504" y="5074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вопрос на завтра: какой шаг в одном процессе должен начинаться с агента?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3504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6428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35640" y="64282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Silow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AI-слепота: agents + humans</dc:title>
  <dc:subject>Yandex AI-literacy workshop</dc:subject>
  <dc:creator>Nikita Sorokin</dc:creator>
  <cp:lastModifiedBy>Nikita Sorokin</cp:lastModifiedBy>
  <cp:revision>1</cp:revision>
  <dcterms:created xsi:type="dcterms:W3CDTF">2026-09-07T15:15:52Z</dcterms:created>
  <dcterms:modified xsi:type="dcterms:W3CDTF">2026-09-07T15:15:52Z</dcterms:modified>
</cp:coreProperties>
</file>