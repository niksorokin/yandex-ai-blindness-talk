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Хук: AI уже есть. Почему рабочий день не изменился?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[ИНТЕРАКТИВ 1] Сценка: вторник, 9:00. Доступ куплен, курс пройден, а день как был, так и есть.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же рамка: мы смотрим на процессы, не на людей. Никакой слежки.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Обязательно в первые 3 минуты: снимаем возражение про слежку.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атакуем L&amp;D: атакуем единицу анализа. Каталог курсов vs реальная работа.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Кейс 2–3 минуты. Качественно, без названия, отрасли, сроков и цифр.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[ИНТЕРАКТИВ 2] Пусть каждый в чате назовёт один свой процесс из 3–5 шагов.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Сквозной пример для варианта C. Проверка выделена синим: там человек.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и есть новая программа обучения: не промпты, а постановка и проверка.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Тренеры в зале — партнёры. Замер процесса — вход в их программу, не конкурент.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10% рекламы. Спокойно, без скидок и давления. Максимум 2 минуты.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[ИНТЕРАКТИВ 3] Финал: напишите в чат один процесс, с которого начнёте. Дальше Q&amp;A 5 минут.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82880" cy="182880"/>
          </a:xfrm>
          <a:prstGeom prst="ellipse">
            <a:avLst/>
          </a:prstGeom>
          <a:solidFill>
            <a:srgbClr val="3B5B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92024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AI-СЛЕПОТА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обучили всех, а работа не изменилась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Никита Сорокин · ко-фаундер silow.ai · 4x founder, ex-Rask AI, ex-Yandex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ellipse">
            <a:avLst/>
          </a:prstGeom>
          <a:solidFill>
            <a:srgbClr val="3B5B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уже есть у всех.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рабочий день не изменился?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42976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Отчёты собираются руками. Задачи передаются между системами. Обучение закончилось демо.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silow.ai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728655" y="6355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ellipse">
            <a:avLst/>
          </a:prstGeom>
          <a:solidFill>
            <a:srgbClr val="3B5B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AI-слепота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Разрыв между доступом к AI и изменением процесса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691308" cy="1005840"/>
          </a:xfrm>
          <a:prstGeom prst="roundRect">
            <a:avLst>
              <a:gd name="adj" fmla="val 7273"/>
            </a:avLst>
          </a:prstGeom>
          <a:solidFill>
            <a:srgbClr val="F4F4F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0"/>
            <a:ext cx="2691308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E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 куплен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185084" y="3044952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49676" y="2743200"/>
            <a:ext cx="2691308" cy="1005840"/>
          </a:xfrm>
          <a:prstGeom prst="roundRect">
            <a:avLst>
              <a:gd name="adj" fmla="val 7273"/>
            </a:avLst>
          </a:prstGeom>
          <a:solidFill>
            <a:srgbClr val="F4F4F0"/>
          </a:solidFill>
          <a:ln/>
        </p:spPr>
      </p:sp>
      <p:sp>
        <p:nvSpPr>
          <p:cNvPr id="9" name="Text 7"/>
          <p:cNvSpPr/>
          <p:nvPr/>
        </p:nvSpPr>
        <p:spPr>
          <a:xfrm>
            <a:off x="3349676" y="2743200"/>
            <a:ext cx="2691308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E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 обучены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86120" y="3044952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50712" y="2743200"/>
            <a:ext cx="2691308" cy="1005840"/>
          </a:xfrm>
          <a:prstGeom prst="roundRect">
            <a:avLst>
              <a:gd name="adj" fmla="val 7273"/>
            </a:avLst>
          </a:prstGeom>
          <a:solidFill>
            <a:srgbClr val="F4F4F0"/>
          </a:solidFill>
          <a:ln/>
        </p:spPr>
      </p:sp>
      <p:sp>
        <p:nvSpPr>
          <p:cNvPr id="12" name="Text 10"/>
          <p:cNvSpPr/>
          <p:nvPr/>
        </p:nvSpPr>
        <p:spPr>
          <a:xfrm>
            <a:off x="6150712" y="2743200"/>
            <a:ext cx="2691308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787155" y="3044952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951747" y="2743200"/>
            <a:ext cx="2691308" cy="1005840"/>
          </a:xfrm>
          <a:prstGeom prst="roundRect">
            <a:avLst>
              <a:gd name="adj" fmla="val 7273"/>
            </a:avLst>
          </a:prstGeom>
          <a:solidFill>
            <a:srgbClr val="3B5BFF"/>
          </a:solidFill>
          <a:ln/>
        </p:spPr>
      </p:sp>
      <p:sp>
        <p:nvSpPr>
          <p:cNvPr id="15" name="Text 13"/>
          <p:cNvSpPr/>
          <p:nvPr/>
        </p:nvSpPr>
        <p:spPr>
          <a:xfrm>
            <a:off x="8951747" y="2743200"/>
            <a:ext cx="2691308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Процесс не изменился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50712" y="2743200"/>
            <a:ext cx="269130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3B5BFF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150712" y="2743200"/>
            <a:ext cx="2691308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разрыв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44805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0E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Сертификат — это факт обучения. Это не факт изменения работы.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864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silow.ai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728655" y="6355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ellipse">
            <a:avLst/>
          </a:prstGeom>
          <a:solidFill>
            <a:srgbClr val="3B5B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E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Процессы, не люди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F4F4F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83464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011680" y="2834640"/>
            <a:ext cx="94484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E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кейлоггерам и чтению сообщений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F4F4F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7947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011680" y="3794760"/>
            <a:ext cx="94484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E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персональным рейтингам сотрудников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4754880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3B5B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7548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011680" y="4754880"/>
            <a:ext cx="94484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E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карте шагов процесса и точкам проверки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silow.ai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728655" y="6355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ellipse">
            <a:avLst/>
          </a:prstGeom>
          <a:solidFill>
            <a:srgbClr val="3B5B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обучение не переносится в работу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4F4F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конкретной задачи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 про «возможности AI», а не про ваш понедельник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4F4F0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2148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617720" y="27432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владельца процесса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17720" y="36576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Никто не отвечает за то, чтобы шаг реально изменился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38160" y="192024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4F4F0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0" y="2148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412480" y="27432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критерия качества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12480" y="36576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Непонятно, как выглядит «стало лучше», кроме «всем понравилось»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56235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0E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Привычку меняет не курс. Привычку меняет задача с владельцем и критерием.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silow.ai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728655" y="6355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ellipse">
            <a:avLst/>
          </a:prstGeom>
          <a:solidFill>
            <a:srgbClr val="3B5B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Кейс: сервисная компания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анонимно, без цифр: это не статистика рынка, это один честный пример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Было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468880" y="2103120"/>
            <a:ext cx="89912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 к AI у всех, обучение пройдено. Отчёты и ответы клиентам всё равно руками, в последний момент.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Сделали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468880" y="3429000"/>
            <a:ext cx="89912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Взяли один процесс. Разобрали его по шагам. Один шаг отдали агенту, человек остался на проверке.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4754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Изменилось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468880" y="4754880"/>
            <a:ext cx="89912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«все стали продуктивнее». Изменился один конкретный шаг: его перестали делать вручную и бояться делегировать.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864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silow.ai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728655" y="6355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ellipse">
            <a:avLst/>
          </a:prstGeom>
          <a:solidFill>
            <a:srgbClr val="3B5B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Метод: один процесс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«внедрить AI в компанию», а изменить один процесс за раз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131101" cy="1051560"/>
          </a:xfrm>
          <a:prstGeom prst="roundRect">
            <a:avLst>
              <a:gd name="adj" fmla="val 6957"/>
            </a:avLst>
          </a:prstGeom>
          <a:solidFill>
            <a:srgbClr val="F4F4F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377440"/>
            <a:ext cx="2131101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E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624877" y="2702052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89469" y="2377440"/>
            <a:ext cx="2131101" cy="1051560"/>
          </a:xfrm>
          <a:prstGeom prst="roundRect">
            <a:avLst>
              <a:gd name="adj" fmla="val 6957"/>
            </a:avLst>
          </a:prstGeom>
          <a:solidFill>
            <a:srgbClr val="F4F4F0"/>
          </a:solidFill>
          <a:ln/>
        </p:spPr>
      </p:sp>
      <p:sp>
        <p:nvSpPr>
          <p:cNvPr id="9" name="Text 7"/>
          <p:cNvSpPr/>
          <p:nvPr/>
        </p:nvSpPr>
        <p:spPr>
          <a:xfrm>
            <a:off x="2789469" y="2377440"/>
            <a:ext cx="2131101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E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Шаги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65705" y="2702052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30297" y="2377440"/>
            <a:ext cx="2131101" cy="1051560"/>
          </a:xfrm>
          <a:prstGeom prst="roundRect">
            <a:avLst>
              <a:gd name="adj" fmla="val 6957"/>
            </a:avLst>
          </a:prstGeom>
          <a:solidFill>
            <a:srgbClr val="F4F4F0"/>
          </a:solidFill>
          <a:ln/>
        </p:spPr>
      </p:sp>
      <p:sp>
        <p:nvSpPr>
          <p:cNvPr id="12" name="Text 10"/>
          <p:cNvSpPr/>
          <p:nvPr/>
        </p:nvSpPr>
        <p:spPr>
          <a:xfrm>
            <a:off x="5030297" y="2377440"/>
            <a:ext cx="2131101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E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Передача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06534" y="2702052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271126" y="2377440"/>
            <a:ext cx="2131101" cy="1051560"/>
          </a:xfrm>
          <a:prstGeom prst="roundRect">
            <a:avLst>
              <a:gd name="adj" fmla="val 6957"/>
            </a:avLst>
          </a:prstGeom>
          <a:solidFill>
            <a:srgbClr val="F4F4F0"/>
          </a:solidFill>
          <a:ln/>
        </p:spPr>
      </p:sp>
      <p:sp>
        <p:nvSpPr>
          <p:cNvPr id="15" name="Text 13"/>
          <p:cNvSpPr/>
          <p:nvPr/>
        </p:nvSpPr>
        <p:spPr>
          <a:xfrm>
            <a:off x="7271126" y="2377440"/>
            <a:ext cx="2131101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E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347363" y="2702052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511955" y="2377440"/>
            <a:ext cx="2131101" cy="1051560"/>
          </a:xfrm>
          <a:prstGeom prst="roundRect">
            <a:avLst>
              <a:gd name="adj" fmla="val 6957"/>
            </a:avLst>
          </a:prstGeom>
          <a:solidFill>
            <a:srgbClr val="3B5BFF"/>
          </a:solidFill>
          <a:ln/>
        </p:spPr>
      </p:sp>
      <p:sp>
        <p:nvSpPr>
          <p:cNvPr id="18" name="Text 16"/>
          <p:cNvSpPr/>
          <p:nvPr/>
        </p:nvSpPr>
        <p:spPr>
          <a:xfrm>
            <a:off x="9511955" y="2377440"/>
            <a:ext cx="2131101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3611880"/>
            <a:ext cx="2131101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запускает работу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789469" y="3611880"/>
            <a:ext cx="2131101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и что делает руками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30297" y="3611880"/>
            <a:ext cx="2131101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задача ходит между людьми и системами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271126" y="3611880"/>
            <a:ext cx="2131101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решается «готово / не готово»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511955" y="3611880"/>
            <a:ext cx="2131101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получает следующий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50292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0E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Точка проверки: то место, где человек остаётся ответственным за итог.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4864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silow.ai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728655" y="6355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ellipse">
            <a:avLst/>
          </a:prstGeom>
          <a:solidFill>
            <a:srgbClr val="3B5B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Пример: еженедельный отчёт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F4F4F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0" y="1691640"/>
            <a:ext cx="8716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письмо руководителя «нужен отчёт к пятнице»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532888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F4F4F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53288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43200" y="2532888"/>
            <a:ext cx="8716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выгрузка из трёх систем, сведение в таблицу, комментарии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374136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F4F4F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37413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Передача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43200" y="3374136"/>
            <a:ext cx="8716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таблица уходит на согласование, правки возвращаются почтой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215384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3B5B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21538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43200" y="4215384"/>
            <a:ext cx="8716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руководитель смотрит глазами: «похоже на правду?»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5056632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F4F4F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05663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743200" y="5056632"/>
            <a:ext cx="8716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руководству. Каждую неделю. Руками.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шаг для агента здесь: сведение данных. Человек остаётся на проверке.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864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silow.ai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728655" y="6355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ellipse">
            <a:avLst/>
          </a:prstGeom>
          <a:solidFill>
            <a:srgbClr val="3B5B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Новая работа человека рядом с агентом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63040" y="17830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Поставить задачу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0" y="1783080"/>
            <a:ext cx="5973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входом, ограничениями и критерием результата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63040" y="28346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Спросить «готово»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486400" y="2834640"/>
            <a:ext cx="5973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определить, что значит готово, до старта, а не после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886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463040" y="38862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Проверить качество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486400" y="3886200"/>
            <a:ext cx="5973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точке проверки, которую вы зафиксировали заранее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4937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463040" y="49377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Ответить за итог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486400" y="4937760"/>
            <a:ext cx="5973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и ответственность остаются у человека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silow.ai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728655" y="6355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ellipse">
            <a:avLst/>
          </a:prstGeom>
          <a:solidFill>
            <a:srgbClr val="3B5B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Чему учить вместо «промптов для всех»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F4F4F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Было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E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 по инструменту для всех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E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сертификат как метрика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E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 в конце обучения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309360" y="1737360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F4F4F0"/>
          </a:solidFill>
          <a:ln/>
        </p:spPr>
      </p:sp>
      <p:sp>
        <p:nvSpPr>
          <p:cNvPr id="8" name="Text 6"/>
          <p:cNvSpPr/>
          <p:nvPr/>
        </p:nvSpPr>
        <p:spPr>
          <a:xfrm>
            <a:off x="6629400" y="19659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Стало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629400" y="265176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E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из реального процесса команды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E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точка проверки как метрика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E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изменённый шаг в конце обучения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55778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0E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L&amp;D здесь не заменяются: вы становитесь теми, кто учит работать с агентами на реальных задачах.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4864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silow.ai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728655" y="6355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ellipse">
            <a:avLst/>
          </a:prstGeom>
          <a:solidFill>
            <a:srgbClr val="3B5B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8229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делаем мы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silow.ai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2691308" cy="1005840"/>
          </a:xfrm>
          <a:prstGeom prst="roundRect">
            <a:avLst>
              <a:gd name="adj" fmla="val 7273"/>
            </a:avLst>
          </a:prstGeom>
          <a:solidFill>
            <a:srgbClr val="F4F4F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560320"/>
            <a:ext cx="2691308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E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работает команда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185084" y="2862072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49676" y="2560320"/>
            <a:ext cx="2691308" cy="1005840"/>
          </a:xfrm>
          <a:prstGeom prst="roundRect">
            <a:avLst>
              <a:gd name="adj" fmla="val 7273"/>
            </a:avLst>
          </a:prstGeom>
          <a:solidFill>
            <a:srgbClr val="F4F4F0"/>
          </a:solidFill>
          <a:ln/>
        </p:spPr>
      </p:sp>
      <p:sp>
        <p:nvSpPr>
          <p:cNvPr id="9" name="Text 7"/>
          <p:cNvSpPr/>
          <p:nvPr/>
        </p:nvSpPr>
        <p:spPr>
          <a:xfrm>
            <a:off x="3349676" y="2560320"/>
            <a:ext cx="2691308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E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процессов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86120" y="2862072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50712" y="2560320"/>
            <a:ext cx="2691308" cy="1005840"/>
          </a:xfrm>
          <a:prstGeom prst="roundRect">
            <a:avLst>
              <a:gd name="adj" fmla="val 7273"/>
            </a:avLst>
          </a:prstGeom>
          <a:solidFill>
            <a:srgbClr val="F4F4F0"/>
          </a:solidFill>
          <a:ln/>
        </p:spPr>
      </p:sp>
      <p:sp>
        <p:nvSpPr>
          <p:cNvPr id="12" name="Text 10"/>
          <p:cNvSpPr/>
          <p:nvPr/>
        </p:nvSpPr>
        <p:spPr>
          <a:xfrm>
            <a:off x="6150712" y="2560320"/>
            <a:ext cx="2691308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E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автоматизировать первым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787155" y="2862072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951747" y="2560320"/>
            <a:ext cx="2691308" cy="1005840"/>
          </a:xfrm>
          <a:prstGeom prst="roundRect">
            <a:avLst>
              <a:gd name="adj" fmla="val 7273"/>
            </a:avLst>
          </a:prstGeom>
          <a:solidFill>
            <a:srgbClr val="3B5BFF"/>
          </a:solidFill>
          <a:ln/>
        </p:spPr>
      </p:sp>
      <p:sp>
        <p:nvSpPr>
          <p:cNvPr id="15" name="Text 13"/>
          <p:cNvSpPr/>
          <p:nvPr/>
        </p:nvSpPr>
        <p:spPr>
          <a:xfrm>
            <a:off x="8951747" y="2560320"/>
            <a:ext cx="2691308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Дорожная карта AI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4114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E0E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AI spend is a guess. Мы делаем так, чтобы это было не угадайкой: замер реальной работы до дорогих решений.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" y="50292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дополнение к вашим программам обучения, не замена: карта говорит, чему учить первым.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silow.ai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728655" y="6355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146304"/>
          </a:xfrm>
          <a:prstGeom prst="ellipse">
            <a:avLst/>
          </a:prstGeom>
          <a:solidFill>
            <a:srgbClr val="3B5B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Завтра, один шаг: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процесс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0" y="2103120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который команда делает руками каждую неделю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точка проверки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0" y="3246120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человек говорит «готово / не готово»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43891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практика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0" y="4389120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постановка задачи агенту с критерием результата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48640" y="54864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AI-грамотность: не число сертификатов, а способность менять конкретные процессы.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61264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5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Никита Сорокин · silow.ai · вопросы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AI-слепота: почему обучили всех, а работа не изменилась</dc:title>
  <dc:subject>PptxGenJS Presentation</dc:subject>
  <dc:creator>Nikita Sorokin</dc:creator>
  <cp:lastModifiedBy>Nikita Sorokin</cp:lastModifiedBy>
  <cp:revision>1</cp:revision>
  <dcterms:created xsi:type="dcterms:W3CDTF">2026-09-04T11:35:54Z</dcterms:created>
  <dcterms:modified xsi:type="dcterms:W3CDTF">2026-09-04T11:35:54Z</dcterms:modified>
</cp:coreProperties>
</file>